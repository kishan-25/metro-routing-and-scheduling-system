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2" r:id="rId2"/>
    <p:sldId id="313" r:id="rId3"/>
    <p:sldId id="314" r:id="rId4"/>
    <p:sldId id="317" r:id="rId5"/>
    <p:sldId id="316" r:id="rId6"/>
    <p:sldId id="31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0DA"/>
    <a:srgbClr val="FFFFFF"/>
    <a:srgbClr val="F8FCFD"/>
    <a:srgbClr val="FCE0B2"/>
    <a:srgbClr val="39B8D8"/>
    <a:srgbClr val="82D4E9"/>
    <a:srgbClr val="57C5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3A0E4-2C9D-EDC2-36E8-2A65F70548B0}" v="437" dt="2024-10-21T13:26:33.416"/>
    <p1510:client id="{30945301-D09B-70B4-5125-4600CC8E25CF}" v="28" dt="2024-10-21T13:53:05.129"/>
    <p1510:client id="{4B02194E-2135-DCBA-6A30-D79A18A6632A}" v="105" dt="2024-10-22T02:18:38.474"/>
    <p1510:client id="{4DC127A3-5022-A52B-C6CD-4953C355A02A}" v="9" dt="2024-10-22T05:23:24.054"/>
    <p1510:client id="{50CE9CDB-9B7E-3131-AC24-8E3CB3FA51F7}" v="25" dt="2024-10-22T02:09:19.097"/>
    <p1510:client id="{52B35B21-0C82-51E1-2152-B1D06914C20C}" v="17" dt="2024-10-22T05:18:16.551"/>
    <p1510:client id="{565EBD67-6F99-4E44-812D-E4F2FD52E55D}" v="37" dt="2024-10-21T04:04:27.395"/>
    <p1510:client id="{C844CABB-3B84-91B6-260D-D6495E5812DA}" v="9" dt="2024-10-22T04:35:26.352"/>
    <p1510:client id="{D38A69DD-C619-7E7B-23C7-06BF635683AB}" v="10" dt="2024-10-22T04:16:50.984"/>
    <p1510:client id="{E2032284-4970-1E7C-9C26-FC7857B2DEF5}" v="11" dt="2024-10-22T04:43:24.433"/>
    <p1510:client id="{ED10C753-C87A-D9F5-47D9-97F38F0F2885}" v="1959" dt="2024-10-21T08:07:02.112"/>
    <p1510:client id="{FFAFD540-2921-1230-16BF-C09C4632D13D}" v="793" dt="2024-10-21T15:26:18.3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3F806-13D5-3D2A-E27E-8C836D641E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B332E60-C528-A801-DC18-9CBBE51594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6A3C34C-A2DE-1FE2-1D00-BB8CA2F8C5AF}"/>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5" name="Footer Placeholder 4">
            <a:extLst>
              <a:ext uri="{FF2B5EF4-FFF2-40B4-BE49-F238E27FC236}">
                <a16:creationId xmlns:a16="http://schemas.microsoft.com/office/drawing/2014/main" id="{510FFF71-AA19-8C51-0BF1-3BBEFA16B0D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237FEF-37E0-6F9E-55C1-377FFA492E92}"/>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2744541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5F7AC-EC00-232F-6766-A117156D1F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51ED8EC-3FEF-A9C3-E968-3E06031F55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8D8C06-A815-EE00-54E4-C7293B6C9C8F}"/>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5" name="Footer Placeholder 4">
            <a:extLst>
              <a:ext uri="{FF2B5EF4-FFF2-40B4-BE49-F238E27FC236}">
                <a16:creationId xmlns:a16="http://schemas.microsoft.com/office/drawing/2014/main" id="{80E2801B-3C62-3B1A-B640-37E000DA8D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492EDD-9897-FB3A-ED54-A92CC49C2549}"/>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3699980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9A7B-DA79-53DD-2AC7-B083E55222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FFAC975-9E0D-74E5-C78E-D6C1A392AD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1E4ECF-9FF1-A81A-6FE9-CD474809C3BE}"/>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5" name="Footer Placeholder 4">
            <a:extLst>
              <a:ext uri="{FF2B5EF4-FFF2-40B4-BE49-F238E27FC236}">
                <a16:creationId xmlns:a16="http://schemas.microsoft.com/office/drawing/2014/main" id="{993ADD1B-DE2A-FF30-E8DC-49210E3B42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92194E-5A35-91E3-71DF-BDCEF16D7580}"/>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1099544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F779A-C65D-2E86-E491-B4CD078CAFC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F58AA9-5E66-8FED-6895-39848E8B31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58FF062-F01B-6944-310D-C74887BB31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8AD917E-B9FC-E518-F107-F34D5C4A01B8}"/>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6" name="Footer Placeholder 5">
            <a:extLst>
              <a:ext uri="{FF2B5EF4-FFF2-40B4-BE49-F238E27FC236}">
                <a16:creationId xmlns:a16="http://schemas.microsoft.com/office/drawing/2014/main" id="{95694ADA-CD87-8F16-DABD-36A4F69D00F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6341573-5C7E-115D-7FE6-7D1D322458D9}"/>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869645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1758F-C94B-F398-4F3B-CF06AB42A5D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591F515-6B1B-7571-1113-F421E3F124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9BBC62-3AE9-FAD9-A78E-A204FB0354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5FB7AED-2EE1-6F72-FD29-23021D9510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CF7D08-DF9E-B266-851C-779CC99668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9332363-3F44-01C6-548B-2D8BEE667A5D}"/>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8" name="Footer Placeholder 7">
            <a:extLst>
              <a:ext uri="{FF2B5EF4-FFF2-40B4-BE49-F238E27FC236}">
                <a16:creationId xmlns:a16="http://schemas.microsoft.com/office/drawing/2014/main" id="{EF036A47-A067-7665-93CB-D6E3DE54DAC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1297D0F-F8DA-A6DC-DD43-0B01B96C9B64}"/>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1386591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97606-9EAE-2E74-F60A-37D84DBF067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84B8D98-BF69-B621-42B9-E63983299BED}"/>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4" name="Footer Placeholder 3">
            <a:extLst>
              <a:ext uri="{FF2B5EF4-FFF2-40B4-BE49-F238E27FC236}">
                <a16:creationId xmlns:a16="http://schemas.microsoft.com/office/drawing/2014/main" id="{4427078C-D8C8-67F4-C192-51AA074E66A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CDC8341-9FB2-F07F-4D73-45DFBC5CD30A}"/>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3137831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B773B4-EA6B-5572-CC60-B93FF46CD2AB}"/>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3" name="Footer Placeholder 2">
            <a:extLst>
              <a:ext uri="{FF2B5EF4-FFF2-40B4-BE49-F238E27FC236}">
                <a16:creationId xmlns:a16="http://schemas.microsoft.com/office/drawing/2014/main" id="{E551480C-4762-8937-557C-80E5BD9AA30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B320BB8-AB74-C9FC-D248-9382B15B6477}"/>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1067499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90549-D92E-73BD-0762-421E64E14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9AA6F2C-7CFC-ED63-B48A-FDE6200C75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0DCE705-8BBE-553E-D30F-A0C9357741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8B74F3-51B6-70E9-0FA1-D12097B0EADD}"/>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6" name="Footer Placeholder 5">
            <a:extLst>
              <a:ext uri="{FF2B5EF4-FFF2-40B4-BE49-F238E27FC236}">
                <a16:creationId xmlns:a16="http://schemas.microsoft.com/office/drawing/2014/main" id="{3E3B7BF8-15FB-F6F7-4B15-DBC87538814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FC072F-89CA-7085-FD47-D539DE648501}"/>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3498311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C5A2B-2000-998A-E57B-F14E8388B9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888D2EF-F986-A94B-6551-C04E28DF77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9C0FA9F-F0F2-D936-96AA-E7D5552299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60014F-97C6-8F7E-D693-DFCEB89C15AA}"/>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6" name="Footer Placeholder 5">
            <a:extLst>
              <a:ext uri="{FF2B5EF4-FFF2-40B4-BE49-F238E27FC236}">
                <a16:creationId xmlns:a16="http://schemas.microsoft.com/office/drawing/2014/main" id="{3076686F-B6CA-6588-780B-C06D8DCB0C5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DC590A8-8206-06A5-B120-997DC6A2DAE6}"/>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1991659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3C976-54F8-42B1-3D41-FF1BDA38B54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6DFAF21-9469-8CA5-3D9A-1456E38A19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CB54014-FC42-B0A5-A17F-65900F977B37}"/>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5" name="Footer Placeholder 4">
            <a:extLst>
              <a:ext uri="{FF2B5EF4-FFF2-40B4-BE49-F238E27FC236}">
                <a16:creationId xmlns:a16="http://schemas.microsoft.com/office/drawing/2014/main" id="{8F5AFF08-F4F3-87E2-8A4B-0CD9DCE0D7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4E3829-2F45-50AB-195D-8CC156958660}"/>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1695936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611523-40CE-6278-3C0F-232F8D4506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A8758C3-FA00-EAEA-79E8-B3351598F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D1D675-12D9-CA22-4487-98660E0777BF}"/>
              </a:ext>
            </a:extLst>
          </p:cNvPr>
          <p:cNvSpPr>
            <a:spLocks noGrp="1"/>
          </p:cNvSpPr>
          <p:nvPr>
            <p:ph type="dt" sz="half" idx="10"/>
          </p:nvPr>
        </p:nvSpPr>
        <p:spPr/>
        <p:txBody>
          <a:bodyPr/>
          <a:lstStyle/>
          <a:p>
            <a:fld id="{B23C1A5F-CF33-4903-874F-A1DB3BEC257B}" type="datetimeFigureOut">
              <a:rPr lang="en-GB" smtClean="0"/>
              <a:t>21/10/2024</a:t>
            </a:fld>
            <a:endParaRPr lang="en-GB"/>
          </a:p>
        </p:txBody>
      </p:sp>
      <p:sp>
        <p:nvSpPr>
          <p:cNvPr id="5" name="Footer Placeholder 4">
            <a:extLst>
              <a:ext uri="{FF2B5EF4-FFF2-40B4-BE49-F238E27FC236}">
                <a16:creationId xmlns:a16="http://schemas.microsoft.com/office/drawing/2014/main" id="{CF748CED-29A9-3FA7-F4B2-5B712307B0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05EAA9-2712-6AEF-BCDB-2E33D275330F}"/>
              </a:ext>
            </a:extLst>
          </p:cNvPr>
          <p:cNvSpPr>
            <a:spLocks noGrp="1"/>
          </p:cNvSpPr>
          <p:nvPr>
            <p:ph type="sldNum" sz="quarter" idx="12"/>
          </p:nvPr>
        </p:nvSpPr>
        <p:spPr/>
        <p:txBody>
          <a:bodyPr/>
          <a:lstStyle/>
          <a:p>
            <a:fld id="{5CA15253-4D34-4C65-B385-E49A8D8D1481}" type="slidenum">
              <a:rPr lang="en-GB" smtClean="0"/>
              <a:t>‹#›</a:t>
            </a:fld>
            <a:endParaRPr lang="en-GB"/>
          </a:p>
        </p:txBody>
      </p:sp>
    </p:spTree>
    <p:extLst>
      <p:ext uri="{BB962C8B-B14F-4D97-AF65-F5344CB8AC3E}">
        <p14:creationId xmlns:p14="http://schemas.microsoft.com/office/powerpoint/2010/main" val="1664382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5EFD9-FCB4-6471-D700-245059DCAD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16B946-52FE-535F-B9B9-D26BC41355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E86C556-9B26-8151-EE00-73C00BAF82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omic Sans MS" panose="030F0702030302020204" pitchFamily="66" charset="0"/>
              </a:defRPr>
            </a:lvl1pPr>
          </a:lstStyle>
          <a:p>
            <a:fld id="{B23C1A5F-CF33-4903-874F-A1DB3BEC257B}" type="datetimeFigureOut">
              <a:rPr lang="en-GB" smtClean="0"/>
              <a:pPr/>
              <a:t>21/10/2024</a:t>
            </a:fld>
            <a:endParaRPr lang="en-GB"/>
          </a:p>
        </p:txBody>
      </p:sp>
      <p:sp>
        <p:nvSpPr>
          <p:cNvPr id="5" name="Footer Placeholder 4">
            <a:extLst>
              <a:ext uri="{FF2B5EF4-FFF2-40B4-BE49-F238E27FC236}">
                <a16:creationId xmlns:a16="http://schemas.microsoft.com/office/drawing/2014/main" id="{55DCAF09-2C8C-F299-A206-31151DE7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omic Sans MS" panose="030F0702030302020204" pitchFamily="66" charset="0"/>
              </a:defRPr>
            </a:lvl1pPr>
          </a:lstStyle>
          <a:p>
            <a:endParaRPr lang="en-GB"/>
          </a:p>
        </p:txBody>
      </p:sp>
      <p:sp>
        <p:nvSpPr>
          <p:cNvPr id="6" name="Slide Number Placeholder 5">
            <a:extLst>
              <a:ext uri="{FF2B5EF4-FFF2-40B4-BE49-F238E27FC236}">
                <a16:creationId xmlns:a16="http://schemas.microsoft.com/office/drawing/2014/main" id="{50DB9D50-E810-279C-F18D-4371546E51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omic Sans MS" panose="030F0702030302020204" pitchFamily="66" charset="0"/>
              </a:defRPr>
            </a:lvl1pPr>
          </a:lstStyle>
          <a:p>
            <a:fld id="{5CA15253-4D34-4C65-B385-E49A8D8D1481}" type="slidenum">
              <a:rPr lang="en-GB" smtClean="0"/>
              <a:pPr/>
              <a:t>‹#›</a:t>
            </a:fld>
            <a:endParaRPr lang="en-GB"/>
          </a:p>
        </p:txBody>
      </p:sp>
    </p:spTree>
    <p:extLst>
      <p:ext uri="{BB962C8B-B14F-4D97-AF65-F5344CB8AC3E}">
        <p14:creationId xmlns:p14="http://schemas.microsoft.com/office/powerpoint/2010/main" val="2411537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Comic Sans MS" panose="030F0702030302020204" pitchFamily="66"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omic Sans MS" panose="030F0702030302020204" pitchFamily="66"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omic Sans MS" panose="030F0702030302020204" pitchFamily="66"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omic Sans MS" panose="030F0702030302020204" pitchFamily="66"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mic Sans MS" panose="030F0702030302020204" pitchFamily="66"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mic Sans MS" panose="030F0702030302020204" pitchFamily="66"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circle with white text and a yellow circle around it&#10;&#10;Description automatically generated">
            <a:extLst>
              <a:ext uri="{FF2B5EF4-FFF2-40B4-BE49-F238E27FC236}">
                <a16:creationId xmlns:a16="http://schemas.microsoft.com/office/drawing/2014/main" id="{8910ACE9-2FAF-CC47-91C1-4914F1040A05}"/>
              </a:ext>
            </a:extLst>
          </p:cNvPr>
          <p:cNvPicPr>
            <a:picLocks noChangeAspect="1"/>
          </p:cNvPicPr>
          <p:nvPr/>
        </p:nvPicPr>
        <p:blipFill>
          <a:blip r:embed="rId2"/>
          <a:stretch>
            <a:fillRect/>
          </a:stretch>
        </p:blipFill>
        <p:spPr>
          <a:xfrm>
            <a:off x="4806015" y="1369773"/>
            <a:ext cx="2559094" cy="2051659"/>
          </a:xfrm>
          <a:prstGeom prst="rect">
            <a:avLst/>
          </a:prstGeom>
        </p:spPr>
      </p:pic>
      <p:sp>
        <p:nvSpPr>
          <p:cNvPr id="3" name="TextBox 2">
            <a:extLst>
              <a:ext uri="{FF2B5EF4-FFF2-40B4-BE49-F238E27FC236}">
                <a16:creationId xmlns:a16="http://schemas.microsoft.com/office/drawing/2014/main" id="{93D0F9D3-9B26-8BF0-EB11-48BF03CA7E2C}"/>
              </a:ext>
            </a:extLst>
          </p:cNvPr>
          <p:cNvSpPr txBox="1"/>
          <p:nvPr/>
        </p:nvSpPr>
        <p:spPr>
          <a:xfrm>
            <a:off x="252016" y="196012"/>
            <a:ext cx="1180277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ea typeface="+mn-lt"/>
                <a:cs typeface="+mn-lt"/>
              </a:rPr>
              <a:t>A Study on Enhancing Metro Ride Experience using Path-finding Algorithms and Scheduling Efficiency</a:t>
            </a:r>
            <a:endParaRPr lang="en-US" sz="3200" b="1">
              <a:cs typeface="Calibri"/>
            </a:endParaRPr>
          </a:p>
        </p:txBody>
      </p:sp>
      <p:sp>
        <p:nvSpPr>
          <p:cNvPr id="7" name="Rectangle 6">
            <a:extLst>
              <a:ext uri="{FF2B5EF4-FFF2-40B4-BE49-F238E27FC236}">
                <a16:creationId xmlns:a16="http://schemas.microsoft.com/office/drawing/2014/main" id="{54061858-C251-10A6-4A35-4CB5F702FC9F}"/>
              </a:ext>
            </a:extLst>
          </p:cNvPr>
          <p:cNvSpPr/>
          <p:nvPr/>
        </p:nvSpPr>
        <p:spPr>
          <a:xfrm>
            <a:off x="-6132" y="6325643"/>
            <a:ext cx="12198132" cy="5323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8942745-DE8A-EC7B-A962-73686B728CB4}"/>
              </a:ext>
            </a:extLst>
          </p:cNvPr>
          <p:cNvSpPr txBox="1"/>
          <p:nvPr/>
        </p:nvSpPr>
        <p:spPr>
          <a:xfrm>
            <a:off x="14250" y="3668240"/>
            <a:ext cx="5713691"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Calibri"/>
                <a:cs typeface="Calibri"/>
              </a:rPr>
              <a:t>Balkishan </a:t>
            </a:r>
            <a:r>
              <a:rPr lang="en-US" sz="2400" b="1" err="1">
                <a:ea typeface="Calibri"/>
                <a:cs typeface="Calibri"/>
              </a:rPr>
              <a:t>Bajpay</a:t>
            </a:r>
            <a:endParaRPr lang="en-US" sz="2400" b="1">
              <a:ea typeface="Calibri"/>
              <a:cs typeface="Calibri"/>
            </a:endParaRPr>
          </a:p>
          <a:p>
            <a:r>
              <a:rPr lang="en-US" sz="2400" b="1">
                <a:ea typeface="Calibri"/>
                <a:cs typeface="Calibri"/>
              </a:rPr>
              <a:t>220101025</a:t>
            </a:r>
          </a:p>
          <a:p>
            <a:r>
              <a:rPr lang="en-US" sz="2400" b="1">
                <a:ea typeface="Calibri"/>
                <a:cs typeface="Calibri"/>
              </a:rPr>
              <a:t>Semester – V</a:t>
            </a:r>
          </a:p>
          <a:p>
            <a:endParaRPr lang="en-US" sz="2400" b="1">
              <a:ea typeface="Calibri"/>
              <a:cs typeface="Calibri"/>
            </a:endParaRPr>
          </a:p>
          <a:p>
            <a:r>
              <a:rPr lang="en-US">
                <a:ea typeface="Calibri"/>
                <a:cs typeface="Calibri"/>
              </a:rPr>
              <a:t>Department of Computer Science and Engineering </a:t>
            </a:r>
          </a:p>
          <a:p>
            <a:r>
              <a:rPr lang="en-US">
                <a:solidFill>
                  <a:srgbClr val="212529"/>
                </a:solidFill>
                <a:latin typeface="system-ui"/>
                <a:ea typeface="Calibri"/>
                <a:cs typeface="Calibri"/>
              </a:rPr>
              <a:t>Indian Institute of Information Technology Senapati,</a:t>
            </a:r>
          </a:p>
          <a:p>
            <a:r>
              <a:rPr lang="en-US">
                <a:solidFill>
                  <a:srgbClr val="212529"/>
                </a:solidFill>
                <a:latin typeface="system-ui"/>
                <a:ea typeface="Calibri"/>
                <a:cs typeface="Calibri"/>
              </a:rPr>
              <a:t>Manipur</a:t>
            </a:r>
          </a:p>
          <a:p>
            <a:endParaRPr lang="en-US">
              <a:ea typeface="Calibri"/>
              <a:cs typeface="Calibri"/>
            </a:endParaRPr>
          </a:p>
        </p:txBody>
      </p:sp>
      <p:sp>
        <p:nvSpPr>
          <p:cNvPr id="5" name="TextBox 4">
            <a:extLst>
              <a:ext uri="{FF2B5EF4-FFF2-40B4-BE49-F238E27FC236}">
                <a16:creationId xmlns:a16="http://schemas.microsoft.com/office/drawing/2014/main" id="{9E64F5AF-D963-A0C2-D2AE-93B9BBFF4710}"/>
              </a:ext>
            </a:extLst>
          </p:cNvPr>
          <p:cNvSpPr txBox="1"/>
          <p:nvPr/>
        </p:nvSpPr>
        <p:spPr>
          <a:xfrm>
            <a:off x="6412418" y="3673830"/>
            <a:ext cx="577958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400" b="1" dirty="0">
                <a:ea typeface="Calibri"/>
                <a:cs typeface="Calibri"/>
              </a:rPr>
              <a:t>Under the Supervision of </a:t>
            </a:r>
          </a:p>
          <a:p>
            <a:pPr algn="r"/>
            <a:r>
              <a:rPr lang="en-US" sz="2400" b="1" dirty="0">
                <a:ea typeface="+mn-lt"/>
                <a:cs typeface="+mn-lt"/>
              </a:rPr>
              <a:t>Dr. Moirangthem Dennis Singh</a:t>
            </a:r>
          </a:p>
          <a:p>
            <a:pPr algn="r"/>
            <a:r>
              <a:rPr lang="en-US" sz="2400" b="1" dirty="0">
                <a:ea typeface="Calibri"/>
                <a:cs typeface="Calibri"/>
              </a:rPr>
              <a:t>Assistance Professor </a:t>
            </a:r>
          </a:p>
          <a:p>
            <a:endParaRPr lang="en-US">
              <a:ea typeface="Calibri"/>
              <a:cs typeface="Calibri"/>
            </a:endParaRPr>
          </a:p>
          <a:p>
            <a:r>
              <a:rPr lang="en-US" dirty="0">
                <a:latin typeface="Calibri" panose="020F0502020204030204"/>
                <a:ea typeface="Calibri"/>
                <a:cs typeface="Calibri"/>
              </a:rPr>
              <a:t>               Department of Computer Science and Engineering </a:t>
            </a:r>
            <a:endParaRPr lang="en-US" dirty="0"/>
          </a:p>
          <a:p>
            <a:r>
              <a:rPr lang="en-US" dirty="0">
                <a:solidFill>
                  <a:srgbClr val="212529"/>
                </a:solidFill>
                <a:latin typeface="system-ui"/>
                <a:ea typeface="Calibri"/>
                <a:cs typeface="Calibri"/>
              </a:rPr>
              <a:t>                       </a:t>
            </a:r>
          </a:p>
          <a:p>
            <a:endParaRPr lang="en-US">
              <a:ea typeface="Calibri"/>
              <a:cs typeface="Calibri"/>
            </a:endParaRPr>
          </a:p>
        </p:txBody>
      </p:sp>
      <p:sp>
        <p:nvSpPr>
          <p:cNvPr id="6" name="TextBox 5">
            <a:extLst>
              <a:ext uri="{FF2B5EF4-FFF2-40B4-BE49-F238E27FC236}">
                <a16:creationId xmlns:a16="http://schemas.microsoft.com/office/drawing/2014/main" id="{1346C80D-C50C-B5AD-016A-6939A946655A}"/>
              </a:ext>
            </a:extLst>
          </p:cNvPr>
          <p:cNvSpPr txBox="1"/>
          <p:nvPr/>
        </p:nvSpPr>
        <p:spPr>
          <a:xfrm>
            <a:off x="7109567" y="5334297"/>
            <a:ext cx="50768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  Indian Institue of Information Technology Senapati,</a:t>
            </a:r>
            <a:endParaRPr lang="en-US"/>
          </a:p>
        </p:txBody>
      </p:sp>
      <p:sp>
        <p:nvSpPr>
          <p:cNvPr id="8" name="TextBox 7">
            <a:extLst>
              <a:ext uri="{FF2B5EF4-FFF2-40B4-BE49-F238E27FC236}">
                <a16:creationId xmlns:a16="http://schemas.microsoft.com/office/drawing/2014/main" id="{B2077A3D-4D04-1E48-C392-23482E1A6E62}"/>
              </a:ext>
            </a:extLst>
          </p:cNvPr>
          <p:cNvSpPr txBox="1"/>
          <p:nvPr/>
        </p:nvSpPr>
        <p:spPr>
          <a:xfrm>
            <a:off x="7208108" y="5617109"/>
            <a:ext cx="24524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Manipur</a:t>
            </a:r>
            <a:endParaRPr lang="en-US"/>
          </a:p>
        </p:txBody>
      </p:sp>
    </p:spTree>
    <p:extLst>
      <p:ext uri="{BB962C8B-B14F-4D97-AF65-F5344CB8AC3E}">
        <p14:creationId xmlns:p14="http://schemas.microsoft.com/office/powerpoint/2010/main" val="3920877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B83FB1-FC18-053A-8E0F-000777FFF77E}"/>
              </a:ext>
            </a:extLst>
          </p:cNvPr>
          <p:cNvSpPr/>
          <p:nvPr/>
        </p:nvSpPr>
        <p:spPr>
          <a:xfrm>
            <a:off x="-3613" y="0"/>
            <a:ext cx="26574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descr="A map of a city&#10;&#10;Description automatically generated">
            <a:extLst>
              <a:ext uri="{FF2B5EF4-FFF2-40B4-BE49-F238E27FC236}">
                <a16:creationId xmlns:a16="http://schemas.microsoft.com/office/drawing/2014/main" id="{05F8496F-2A13-ED30-A511-26DD9AC49E60}"/>
              </a:ext>
            </a:extLst>
          </p:cNvPr>
          <p:cNvPicPr>
            <a:picLocks noChangeAspect="1"/>
          </p:cNvPicPr>
          <p:nvPr/>
        </p:nvPicPr>
        <p:blipFill>
          <a:blip r:embed="rId2"/>
          <a:stretch>
            <a:fillRect/>
          </a:stretch>
        </p:blipFill>
        <p:spPr>
          <a:xfrm>
            <a:off x="308406" y="846083"/>
            <a:ext cx="4677775" cy="537604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357F896C-A10E-38D5-5EA3-D968EECF6056}"/>
              </a:ext>
            </a:extLst>
          </p:cNvPr>
          <p:cNvSpPr txBox="1"/>
          <p:nvPr/>
        </p:nvSpPr>
        <p:spPr>
          <a:xfrm>
            <a:off x="3629399" y="150961"/>
            <a:ext cx="551495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ea typeface="Calibri"/>
                <a:cs typeface="Calibri"/>
              </a:rPr>
              <a:t>INTRODUCTION</a:t>
            </a:r>
            <a:endParaRPr lang="en-US" sz="2400">
              <a:ea typeface="Calibri"/>
              <a:cs typeface="Calibri"/>
            </a:endParaRPr>
          </a:p>
        </p:txBody>
      </p:sp>
      <p:sp>
        <p:nvSpPr>
          <p:cNvPr id="8" name="TextBox 7">
            <a:extLst>
              <a:ext uri="{FF2B5EF4-FFF2-40B4-BE49-F238E27FC236}">
                <a16:creationId xmlns:a16="http://schemas.microsoft.com/office/drawing/2014/main" id="{38AA81AF-34DA-5F98-1635-C937628821E8}"/>
              </a:ext>
            </a:extLst>
          </p:cNvPr>
          <p:cNvSpPr txBox="1"/>
          <p:nvPr/>
        </p:nvSpPr>
        <p:spPr>
          <a:xfrm>
            <a:off x="6835603" y="2792037"/>
            <a:ext cx="3807947" cy="400110"/>
          </a:xfrm>
          <a:prstGeom prst="rec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chemeClr val="tx1"/>
                </a:solidFill>
                <a:ea typeface="Calibri"/>
                <a:cs typeface="Calibri"/>
              </a:rPr>
              <a:t>Problem Statement </a:t>
            </a:r>
          </a:p>
        </p:txBody>
      </p:sp>
      <p:sp>
        <p:nvSpPr>
          <p:cNvPr id="9" name="TextBox 8">
            <a:extLst>
              <a:ext uri="{FF2B5EF4-FFF2-40B4-BE49-F238E27FC236}">
                <a16:creationId xmlns:a16="http://schemas.microsoft.com/office/drawing/2014/main" id="{22EEE75B-FF4A-80E5-2082-D35BAEB5AECE}"/>
              </a:ext>
            </a:extLst>
          </p:cNvPr>
          <p:cNvSpPr txBox="1"/>
          <p:nvPr/>
        </p:nvSpPr>
        <p:spPr>
          <a:xfrm>
            <a:off x="5340457" y="3360536"/>
            <a:ext cx="654901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As urban metro networks grow, passengers or travelers face increasingly difficult challenges in planning their trips, especially when the network have multiple lines, stations, and junctions. Some of the key difficulties that passengers face include:</a:t>
            </a:r>
            <a:br>
              <a:rPr lang="en-US" sz="2000">
                <a:ea typeface="+mn-lt"/>
                <a:cs typeface="+mn-lt"/>
              </a:rPr>
            </a:br>
            <a:endParaRPr lang="en-US" sz="2000">
              <a:ea typeface="Calibri"/>
              <a:cs typeface="Calibri"/>
            </a:endParaRPr>
          </a:p>
          <a:p>
            <a:pPr marL="342900" indent="-342900">
              <a:buAutoNum type="arabicParenR"/>
            </a:pPr>
            <a:r>
              <a:rPr lang="en-US" sz="2000">
                <a:ea typeface="Calibri"/>
                <a:cs typeface="Calibri"/>
              </a:rPr>
              <a:t>Identifying  the Shortest Route</a:t>
            </a:r>
          </a:p>
          <a:p>
            <a:pPr marL="342900" indent="-342900">
              <a:buAutoNum type="arabicParenR"/>
            </a:pPr>
            <a:r>
              <a:rPr lang="en-US" sz="2000">
                <a:ea typeface="Calibri"/>
                <a:cs typeface="Calibri"/>
              </a:rPr>
              <a:t>Calculating Travel Distance and Time</a:t>
            </a:r>
          </a:p>
          <a:p>
            <a:pPr marL="342900" indent="-342900">
              <a:buAutoNum type="arabicParenR"/>
            </a:pPr>
            <a:r>
              <a:rPr lang="en-US" sz="2000">
                <a:ea typeface="Calibri"/>
                <a:cs typeface="Calibri"/>
              </a:rPr>
              <a:t>Navigation between multiple lines</a:t>
            </a:r>
          </a:p>
        </p:txBody>
      </p:sp>
      <p:sp>
        <p:nvSpPr>
          <p:cNvPr id="2" name="TextBox 1">
            <a:extLst>
              <a:ext uri="{FF2B5EF4-FFF2-40B4-BE49-F238E27FC236}">
                <a16:creationId xmlns:a16="http://schemas.microsoft.com/office/drawing/2014/main" id="{334A0BE0-6931-0F33-4416-41B9BAADABB6}"/>
              </a:ext>
            </a:extLst>
          </p:cNvPr>
          <p:cNvSpPr txBox="1"/>
          <p:nvPr/>
        </p:nvSpPr>
        <p:spPr>
          <a:xfrm>
            <a:off x="5463100" y="744792"/>
            <a:ext cx="630054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The </a:t>
            </a:r>
            <a:r>
              <a:rPr lang="en-US" sz="2000" b="1" dirty="0"/>
              <a:t>Metro Scheduling and Navigation System</a:t>
            </a:r>
            <a:r>
              <a:rPr lang="en-US" sz="2000" dirty="0"/>
              <a:t> is designed to help commuters efficiently navigate complex metro networks. It automates the process of route planning, offering features such as identifying the shortest path between stations, calculating travel distances and times, and handling line changes seamlessly. </a:t>
            </a:r>
            <a:endParaRPr lang="en-US" sz="2000" dirty="0">
              <a:ea typeface="Calibri"/>
              <a:cs typeface="Calibri"/>
            </a:endParaRPr>
          </a:p>
        </p:txBody>
      </p:sp>
      <p:sp>
        <p:nvSpPr>
          <p:cNvPr id="3" name="TextBox 2">
            <a:extLst>
              <a:ext uri="{FF2B5EF4-FFF2-40B4-BE49-F238E27FC236}">
                <a16:creationId xmlns:a16="http://schemas.microsoft.com/office/drawing/2014/main" id="{932A7D50-82C8-E67D-D27F-E84EE0E55079}"/>
              </a:ext>
            </a:extLst>
          </p:cNvPr>
          <p:cNvSpPr txBox="1"/>
          <p:nvPr/>
        </p:nvSpPr>
        <p:spPr>
          <a:xfrm>
            <a:off x="5282406" y="6223781"/>
            <a:ext cx="690733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Calibri"/>
                <a:cs typeface="Calibri"/>
              </a:rPr>
              <a:t>Assumption </a:t>
            </a:r>
            <a:r>
              <a:rPr lang="en-US" dirty="0">
                <a:ea typeface="Calibri"/>
                <a:cs typeface="Calibri"/>
              </a:rPr>
              <a:t>: Distance between any two stations is 800m to 1200m. </a:t>
            </a:r>
            <a:endParaRPr lang="en-US" dirty="0"/>
          </a:p>
        </p:txBody>
      </p:sp>
    </p:spTree>
    <p:extLst>
      <p:ext uri="{BB962C8B-B14F-4D97-AF65-F5344CB8AC3E}">
        <p14:creationId xmlns:p14="http://schemas.microsoft.com/office/powerpoint/2010/main" val="1122466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72F022-8EE9-3ABF-6A2C-569C7ACFABA6}"/>
              </a:ext>
            </a:extLst>
          </p:cNvPr>
          <p:cNvSpPr txBox="1"/>
          <p:nvPr/>
        </p:nvSpPr>
        <p:spPr>
          <a:xfrm>
            <a:off x="5409604" y="125906"/>
            <a:ext cx="5336685" cy="461665"/>
          </a:xfrm>
          <a:prstGeom prst="rec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tx1"/>
                </a:solidFill>
                <a:ea typeface="Calibri"/>
                <a:cs typeface="Calibri"/>
              </a:rPr>
              <a:t>System architecture &amp; Flow of Processes</a:t>
            </a:r>
          </a:p>
        </p:txBody>
      </p:sp>
      <p:sp>
        <p:nvSpPr>
          <p:cNvPr id="6" name="TextBox 5">
            <a:extLst>
              <a:ext uri="{FF2B5EF4-FFF2-40B4-BE49-F238E27FC236}">
                <a16:creationId xmlns:a16="http://schemas.microsoft.com/office/drawing/2014/main" id="{A2A5A63D-23F8-1176-D30F-AF81F080EBCC}"/>
              </a:ext>
            </a:extLst>
          </p:cNvPr>
          <p:cNvSpPr txBox="1"/>
          <p:nvPr/>
        </p:nvSpPr>
        <p:spPr>
          <a:xfrm>
            <a:off x="15812" y="742321"/>
            <a:ext cx="3856486"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Calibri"/>
                <a:cs typeface="Calibri"/>
              </a:rPr>
              <a:t>Metro Scheduling and Navigation System  : </a:t>
            </a:r>
          </a:p>
          <a:p>
            <a:r>
              <a:rPr lang="en-US" sz="2000" dirty="0">
                <a:ea typeface="Calibri"/>
                <a:cs typeface="Calibri"/>
              </a:rPr>
              <a:t>It consists of two modules : </a:t>
            </a:r>
            <a:endParaRPr lang="en-US" sz="2000" b="1" dirty="0">
              <a:ea typeface="Calibri"/>
              <a:cs typeface="Calibri"/>
            </a:endParaRPr>
          </a:p>
          <a:p>
            <a:r>
              <a:rPr lang="en-US" b="1" dirty="0">
                <a:ea typeface="Calibri"/>
                <a:cs typeface="Calibri"/>
              </a:rPr>
              <a:t>Scheduling module : </a:t>
            </a:r>
            <a:r>
              <a:rPr lang="en-US" dirty="0">
                <a:ea typeface="Calibri"/>
                <a:cs typeface="Calibri"/>
              </a:rPr>
              <a:t> which helps the passengers to get to know today's schedule of the metro lines for every station for smooth transition .</a:t>
            </a:r>
          </a:p>
          <a:p>
            <a:r>
              <a:rPr lang="en-US" b="1" dirty="0">
                <a:ea typeface="Calibri"/>
                <a:cs typeface="Calibri"/>
              </a:rPr>
              <a:t>Navigation module : </a:t>
            </a:r>
            <a:r>
              <a:rPr lang="en-US" dirty="0">
                <a:ea typeface="Calibri"/>
                <a:cs typeface="Calibri"/>
              </a:rPr>
              <a:t>which helps the passengers to get to know which path is the shortest path , how much distance they have to travel in how much time and at which station they have to change metro and how many stations they have to cross to reach their destination station .  </a:t>
            </a:r>
          </a:p>
        </p:txBody>
      </p:sp>
      <p:sp>
        <p:nvSpPr>
          <p:cNvPr id="5" name="Rectangle 4">
            <a:extLst>
              <a:ext uri="{FF2B5EF4-FFF2-40B4-BE49-F238E27FC236}">
                <a16:creationId xmlns:a16="http://schemas.microsoft.com/office/drawing/2014/main" id="{0F8395FF-4391-9019-1509-6D9104C65299}"/>
              </a:ext>
            </a:extLst>
          </p:cNvPr>
          <p:cNvSpPr/>
          <p:nvPr/>
        </p:nvSpPr>
        <p:spPr>
          <a:xfrm>
            <a:off x="-6132" y="6325643"/>
            <a:ext cx="12198132" cy="5323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0CEE05C-472C-52B7-8817-05A5A2BBA2E1}"/>
              </a:ext>
            </a:extLst>
          </p:cNvPr>
          <p:cNvSpPr txBox="1"/>
          <p:nvPr/>
        </p:nvSpPr>
        <p:spPr>
          <a:xfrm>
            <a:off x="238741" y="121294"/>
            <a:ext cx="3108203" cy="461665"/>
          </a:xfrm>
          <a:prstGeom prst="rec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tx1"/>
                </a:solidFill>
                <a:ea typeface="Calibri"/>
                <a:cs typeface="Calibri"/>
              </a:rPr>
              <a:t>    Proposed Solution </a:t>
            </a:r>
          </a:p>
        </p:txBody>
      </p:sp>
      <p:sp>
        <p:nvSpPr>
          <p:cNvPr id="2" name="TextBox 1">
            <a:extLst>
              <a:ext uri="{FF2B5EF4-FFF2-40B4-BE49-F238E27FC236}">
                <a16:creationId xmlns:a16="http://schemas.microsoft.com/office/drawing/2014/main" id="{D757EB4F-F168-495F-82C1-EFBB97D5A7FA}"/>
              </a:ext>
            </a:extLst>
          </p:cNvPr>
          <p:cNvSpPr txBox="1"/>
          <p:nvPr/>
        </p:nvSpPr>
        <p:spPr>
          <a:xfrm>
            <a:off x="141557" y="4993134"/>
            <a:ext cx="2779683" cy="400110"/>
          </a:xfrm>
          <a:prstGeom prst="rec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solidFill>
                  <a:schemeClr val="tx1"/>
                </a:solidFill>
                <a:ea typeface="Calibri"/>
                <a:cs typeface="Calibri"/>
              </a:rPr>
              <a:t>Other </a:t>
            </a:r>
            <a:r>
              <a:rPr lang="en-US" sz="2000" b="1" dirty="0" err="1">
                <a:solidFill>
                  <a:schemeClr val="tx1"/>
                </a:solidFill>
                <a:ea typeface="Calibri"/>
                <a:cs typeface="Calibri"/>
              </a:rPr>
              <a:t>Approache</a:t>
            </a:r>
            <a:r>
              <a:rPr lang="en-US" sz="2000" b="1" dirty="0">
                <a:solidFill>
                  <a:schemeClr val="tx1"/>
                </a:solidFill>
                <a:ea typeface="Calibri"/>
                <a:cs typeface="Calibri"/>
              </a:rPr>
              <a:t> </a:t>
            </a:r>
            <a:endParaRPr lang="en-US" dirty="0">
              <a:solidFill>
                <a:schemeClr val="tx1"/>
              </a:solidFill>
              <a:ea typeface="Calibri"/>
              <a:cs typeface="Calibri"/>
            </a:endParaRPr>
          </a:p>
        </p:txBody>
      </p:sp>
      <p:sp>
        <p:nvSpPr>
          <p:cNvPr id="4" name="TextBox 3">
            <a:extLst>
              <a:ext uri="{FF2B5EF4-FFF2-40B4-BE49-F238E27FC236}">
                <a16:creationId xmlns:a16="http://schemas.microsoft.com/office/drawing/2014/main" id="{CAEEA8FB-DDCC-A6B7-4114-B0C0918B9650}"/>
              </a:ext>
            </a:extLst>
          </p:cNvPr>
          <p:cNvSpPr txBox="1"/>
          <p:nvPr/>
        </p:nvSpPr>
        <p:spPr>
          <a:xfrm>
            <a:off x="141558" y="5399763"/>
            <a:ext cx="372180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ea typeface="Calibri"/>
                <a:cs typeface="Calibri"/>
              </a:rPr>
              <a:t>A* Algorithm for path finding , but it is not suitable because of not having a good heuristic .</a:t>
            </a:r>
            <a:endParaRPr lang="en-US">
              <a:ea typeface="Calibri"/>
              <a:cs typeface="Calibri"/>
            </a:endParaRPr>
          </a:p>
        </p:txBody>
      </p:sp>
      <p:pic>
        <p:nvPicPr>
          <p:cNvPr id="7" name="Picture 6" descr="A diagram of a system&#10;&#10;Description automatically generated">
            <a:extLst>
              <a:ext uri="{FF2B5EF4-FFF2-40B4-BE49-F238E27FC236}">
                <a16:creationId xmlns:a16="http://schemas.microsoft.com/office/drawing/2014/main" id="{EDDA3DF0-90BE-D7B6-3C01-D9BC9414D387}"/>
              </a:ext>
            </a:extLst>
          </p:cNvPr>
          <p:cNvPicPr>
            <a:picLocks noChangeAspect="1"/>
          </p:cNvPicPr>
          <p:nvPr/>
        </p:nvPicPr>
        <p:blipFill>
          <a:blip r:embed="rId2"/>
          <a:stretch>
            <a:fillRect/>
          </a:stretch>
        </p:blipFill>
        <p:spPr>
          <a:xfrm>
            <a:off x="3854824" y="742663"/>
            <a:ext cx="8180293" cy="54735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90966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code&#10;&#10;Description automatically generated">
            <a:extLst>
              <a:ext uri="{FF2B5EF4-FFF2-40B4-BE49-F238E27FC236}">
                <a16:creationId xmlns:a16="http://schemas.microsoft.com/office/drawing/2014/main" id="{FA658B7F-7A85-C1C7-E0E1-260A27D8F088}"/>
              </a:ext>
            </a:extLst>
          </p:cNvPr>
          <p:cNvPicPr>
            <a:picLocks noChangeAspect="1"/>
          </p:cNvPicPr>
          <p:nvPr/>
        </p:nvPicPr>
        <p:blipFill>
          <a:blip r:embed="rId2"/>
          <a:stretch>
            <a:fillRect/>
          </a:stretch>
        </p:blipFill>
        <p:spPr>
          <a:xfrm>
            <a:off x="104384" y="1323059"/>
            <a:ext cx="5469699" cy="1686109"/>
          </a:xfrm>
          <a:prstGeom prst="rect">
            <a:avLst/>
          </a:prstGeom>
          <a:ln>
            <a:noFill/>
          </a:ln>
          <a:effectLst>
            <a:outerShdw blurRad="292100" dist="139700" dir="2700000" algn="tl" rotWithShape="0">
              <a:srgbClr val="333333">
                <a:alpha val="65000"/>
              </a:srgbClr>
            </a:outerShdw>
          </a:effectLst>
        </p:spPr>
      </p:pic>
      <p:pic>
        <p:nvPicPr>
          <p:cNvPr id="8" name="Picture 7" descr="A screenshot of a computer&#10;&#10;Description automatically generated">
            <a:extLst>
              <a:ext uri="{FF2B5EF4-FFF2-40B4-BE49-F238E27FC236}">
                <a16:creationId xmlns:a16="http://schemas.microsoft.com/office/drawing/2014/main" id="{DB49695E-EE01-A5D8-8609-917E331F0A25}"/>
              </a:ext>
            </a:extLst>
          </p:cNvPr>
          <p:cNvPicPr>
            <a:picLocks noChangeAspect="1"/>
          </p:cNvPicPr>
          <p:nvPr/>
        </p:nvPicPr>
        <p:blipFill>
          <a:blip r:embed="rId3"/>
          <a:stretch>
            <a:fillRect/>
          </a:stretch>
        </p:blipFill>
        <p:spPr>
          <a:xfrm>
            <a:off x="5920237" y="1327817"/>
            <a:ext cx="6096000" cy="3411358"/>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EB9B3D36-1104-29C9-1817-D099CE131185}"/>
              </a:ext>
            </a:extLst>
          </p:cNvPr>
          <p:cNvSpPr txBox="1"/>
          <p:nvPr/>
        </p:nvSpPr>
        <p:spPr>
          <a:xfrm>
            <a:off x="2419414" y="207244"/>
            <a:ext cx="6776443" cy="400110"/>
          </a:xfrm>
          <a:prstGeom prst="rec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ea typeface="Calibri"/>
                <a:cs typeface="Calibri"/>
              </a:rPr>
              <a:t>Result &amp; Benefits</a:t>
            </a:r>
          </a:p>
        </p:txBody>
      </p:sp>
      <p:sp>
        <p:nvSpPr>
          <p:cNvPr id="11" name="TextBox 10">
            <a:extLst>
              <a:ext uri="{FF2B5EF4-FFF2-40B4-BE49-F238E27FC236}">
                <a16:creationId xmlns:a16="http://schemas.microsoft.com/office/drawing/2014/main" id="{397E5CBE-B1CD-D331-79C6-66320FF466C1}"/>
              </a:ext>
            </a:extLst>
          </p:cNvPr>
          <p:cNvSpPr txBox="1"/>
          <p:nvPr/>
        </p:nvSpPr>
        <p:spPr>
          <a:xfrm>
            <a:off x="182011" y="882058"/>
            <a:ext cx="473230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ea typeface="Calibri"/>
                <a:cs typeface="Calibri"/>
              </a:rPr>
              <a:t>Scheduler Result</a:t>
            </a:r>
            <a:endParaRPr lang="en-US"/>
          </a:p>
        </p:txBody>
      </p:sp>
      <p:sp>
        <p:nvSpPr>
          <p:cNvPr id="12" name="TextBox 11">
            <a:extLst>
              <a:ext uri="{FF2B5EF4-FFF2-40B4-BE49-F238E27FC236}">
                <a16:creationId xmlns:a16="http://schemas.microsoft.com/office/drawing/2014/main" id="{E96BBCC2-2569-A07C-693F-EA6BD41116A2}"/>
              </a:ext>
            </a:extLst>
          </p:cNvPr>
          <p:cNvSpPr txBox="1"/>
          <p:nvPr/>
        </p:nvSpPr>
        <p:spPr>
          <a:xfrm>
            <a:off x="6048395" y="840055"/>
            <a:ext cx="485831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ea typeface="Calibri"/>
                <a:cs typeface="Calibri"/>
              </a:rPr>
              <a:t>Navigation System Result</a:t>
            </a:r>
          </a:p>
        </p:txBody>
      </p:sp>
      <p:sp>
        <p:nvSpPr>
          <p:cNvPr id="16" name="TextBox 15">
            <a:extLst>
              <a:ext uri="{FF2B5EF4-FFF2-40B4-BE49-F238E27FC236}">
                <a16:creationId xmlns:a16="http://schemas.microsoft.com/office/drawing/2014/main" id="{7484897F-48BE-7505-AECC-0BCA6059E458}"/>
              </a:ext>
            </a:extLst>
          </p:cNvPr>
          <p:cNvSpPr txBox="1"/>
          <p:nvPr/>
        </p:nvSpPr>
        <p:spPr>
          <a:xfrm>
            <a:off x="187576" y="5224981"/>
            <a:ext cx="1146674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Scheduler Result</a:t>
            </a:r>
            <a:r>
              <a:rPr lang="en-US" dirty="0">
                <a:ea typeface="+mn-lt"/>
                <a:cs typeface="+mn-lt"/>
              </a:rPr>
              <a:t>: Displays the schedules for Line-1 (Green) and Line-2 (Red). It includes station codes, arrival, and departure times for each station. The scheduler generates similar results for all stations on every metro line.</a:t>
            </a:r>
            <a:endParaRPr lang="en-US" dirty="0"/>
          </a:p>
          <a:p>
            <a:pPr marL="285750" indent="-285750">
              <a:buFont typeface="Arial"/>
              <a:buChar char="•"/>
            </a:pPr>
            <a:r>
              <a:rPr lang="en-US" b="1" dirty="0">
                <a:ea typeface="+mn-lt"/>
                <a:cs typeface="+mn-lt"/>
              </a:rPr>
              <a:t>Navigation System Result</a:t>
            </a:r>
            <a:r>
              <a:rPr lang="en-US" dirty="0">
                <a:ea typeface="+mn-lt"/>
                <a:cs typeface="+mn-lt"/>
              </a:rPr>
              <a:t>: Illustrates the system's functionality in finding the minimum number of stations and calculating the shortest distance between two specified stations. The result also provides information on required line changes and the estimated time to reach the destination.</a:t>
            </a:r>
            <a:endParaRPr lang="en-US" dirty="0"/>
          </a:p>
          <a:p>
            <a:pPr algn="l"/>
            <a:endParaRPr lang="en-US" dirty="0">
              <a:ea typeface="Calibri"/>
              <a:cs typeface="Calibri"/>
            </a:endParaRPr>
          </a:p>
        </p:txBody>
      </p:sp>
      <p:pic>
        <p:nvPicPr>
          <p:cNvPr id="4" name="Picture 3" descr="A diagram of benefits and real time updates&#10;&#10;Description automatically generated">
            <a:extLst>
              <a:ext uri="{FF2B5EF4-FFF2-40B4-BE49-F238E27FC236}">
                <a16:creationId xmlns:a16="http://schemas.microsoft.com/office/drawing/2014/main" id="{18CB046D-07D5-45FF-BBC5-651525D0A717}"/>
              </a:ext>
            </a:extLst>
          </p:cNvPr>
          <p:cNvPicPr>
            <a:picLocks noChangeAspect="1"/>
          </p:cNvPicPr>
          <p:nvPr/>
        </p:nvPicPr>
        <p:blipFill>
          <a:blip r:embed="rId4"/>
          <a:stretch>
            <a:fillRect/>
          </a:stretch>
        </p:blipFill>
        <p:spPr>
          <a:xfrm>
            <a:off x="156575" y="3178593"/>
            <a:ext cx="5417508" cy="17638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87101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C5AA0E-AC26-021E-27A2-7BD9AE3D909D}"/>
              </a:ext>
            </a:extLst>
          </p:cNvPr>
          <p:cNvSpPr txBox="1"/>
          <p:nvPr/>
        </p:nvSpPr>
        <p:spPr>
          <a:xfrm>
            <a:off x="3743754" y="374623"/>
            <a:ext cx="407112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ea typeface="Calibri"/>
                <a:cs typeface="Calibri"/>
              </a:rPr>
              <a:t>Conclusion </a:t>
            </a:r>
            <a:endParaRPr lang="en-US" sz="2400">
              <a:ea typeface="Calibri"/>
              <a:cs typeface="Calibri"/>
            </a:endParaRPr>
          </a:p>
        </p:txBody>
      </p:sp>
      <p:sp>
        <p:nvSpPr>
          <p:cNvPr id="3" name="TextBox 2">
            <a:extLst>
              <a:ext uri="{FF2B5EF4-FFF2-40B4-BE49-F238E27FC236}">
                <a16:creationId xmlns:a16="http://schemas.microsoft.com/office/drawing/2014/main" id="{654CDEEF-58A7-CD5C-47FE-23B9F275199D}"/>
              </a:ext>
            </a:extLst>
          </p:cNvPr>
          <p:cNvSpPr txBox="1"/>
          <p:nvPr/>
        </p:nvSpPr>
        <p:spPr>
          <a:xfrm>
            <a:off x="3899246" y="2504989"/>
            <a:ext cx="37592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ea typeface="Calibri"/>
                <a:cs typeface="Calibri"/>
              </a:rPr>
              <a:t>Future Scope</a:t>
            </a:r>
            <a:endParaRPr lang="en-US" sz="2400">
              <a:ea typeface="Calibri"/>
              <a:cs typeface="Calibri"/>
            </a:endParaRPr>
          </a:p>
        </p:txBody>
      </p:sp>
      <p:sp>
        <p:nvSpPr>
          <p:cNvPr id="5" name="Rectangle 4">
            <a:extLst>
              <a:ext uri="{FF2B5EF4-FFF2-40B4-BE49-F238E27FC236}">
                <a16:creationId xmlns:a16="http://schemas.microsoft.com/office/drawing/2014/main" id="{C42216AD-DF37-579E-0940-A3FAFA10DFB8}"/>
              </a:ext>
            </a:extLst>
          </p:cNvPr>
          <p:cNvSpPr/>
          <p:nvPr/>
        </p:nvSpPr>
        <p:spPr>
          <a:xfrm>
            <a:off x="-6132" y="6325643"/>
            <a:ext cx="12198132" cy="5323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678AC9A-CE2D-550D-5901-088D93F38CB0}"/>
              </a:ext>
            </a:extLst>
          </p:cNvPr>
          <p:cNvSpPr txBox="1"/>
          <p:nvPr/>
        </p:nvSpPr>
        <p:spPr>
          <a:xfrm>
            <a:off x="210014" y="882057"/>
            <a:ext cx="10626694"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mn-lt"/>
                <a:cs typeface="+mn-lt"/>
              </a:rPr>
              <a:t>This metro scheduling and navigation system efficiently addresses urban transit challenges by optimizing schedules and providing accurate route information. The implementation of Dijkstra’s algorithm ensures commuters can navigate easily, while the user-friendly interface enhances accessibility. The system's modular design allows for scalability, making it adaptable to future growth in urban transit networks.</a:t>
            </a:r>
          </a:p>
        </p:txBody>
      </p:sp>
      <p:sp>
        <p:nvSpPr>
          <p:cNvPr id="7" name="TextBox 6">
            <a:extLst>
              <a:ext uri="{FF2B5EF4-FFF2-40B4-BE49-F238E27FC236}">
                <a16:creationId xmlns:a16="http://schemas.microsoft.com/office/drawing/2014/main" id="{10A84D04-57D8-7749-4CF1-4A9E9C87CFC0}"/>
              </a:ext>
            </a:extLst>
          </p:cNvPr>
          <p:cNvSpPr txBox="1"/>
          <p:nvPr/>
        </p:nvSpPr>
        <p:spPr>
          <a:xfrm>
            <a:off x="196012" y="3066200"/>
            <a:ext cx="11396745"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b="1" dirty="0">
                <a:ea typeface="+mn-lt"/>
                <a:cs typeface="+mn-lt"/>
              </a:rPr>
              <a:t>New Algorithm Development</a:t>
            </a:r>
            <a:r>
              <a:rPr lang="en-US" sz="2000" dirty="0">
                <a:ea typeface="+mn-lt"/>
                <a:cs typeface="+mn-lt"/>
              </a:rPr>
              <a:t>: Hybrid A* and Dijkstra’s algorithm for enhanced pathfinding efficiency.</a:t>
            </a:r>
          </a:p>
          <a:p>
            <a:pPr marL="285750" indent="-285750">
              <a:buFont typeface="Arial"/>
              <a:buChar char="•"/>
            </a:pPr>
            <a:endParaRPr lang="en-US" sz="2000" b="1" dirty="0">
              <a:ea typeface="+mn-lt"/>
              <a:cs typeface="+mn-lt"/>
            </a:endParaRPr>
          </a:p>
          <a:p>
            <a:pPr marL="285750" indent="-285750">
              <a:buFont typeface="Arial"/>
              <a:buChar char="•"/>
            </a:pPr>
            <a:r>
              <a:rPr lang="en-US" sz="2000" b="1" dirty="0">
                <a:ea typeface="+mn-lt"/>
                <a:cs typeface="+mn-lt"/>
              </a:rPr>
              <a:t>Real-Time Tracking</a:t>
            </a:r>
            <a:r>
              <a:rPr lang="en-US" sz="2000" dirty="0">
                <a:ea typeface="+mn-lt"/>
                <a:cs typeface="+mn-lt"/>
              </a:rPr>
              <a:t>: Integration of GPS for live train tracking and notifications.</a:t>
            </a:r>
            <a:endParaRPr lang="en-US" sz="2000">
              <a:ea typeface="Calibri"/>
              <a:cs typeface="Calibri"/>
            </a:endParaRPr>
          </a:p>
          <a:p>
            <a:endParaRPr lang="en-US" sz="2000" dirty="0">
              <a:ea typeface="+mn-lt"/>
              <a:cs typeface="+mn-lt"/>
            </a:endParaRPr>
          </a:p>
          <a:p>
            <a:pPr marL="285750" indent="-285750">
              <a:buFont typeface="Arial"/>
              <a:buChar char="•"/>
            </a:pPr>
            <a:r>
              <a:rPr lang="en-US" sz="2000" b="1" dirty="0">
                <a:ea typeface="+mn-lt"/>
                <a:cs typeface="+mn-lt"/>
              </a:rPr>
              <a:t>Mobile App Development</a:t>
            </a:r>
            <a:r>
              <a:rPr lang="en-US" sz="2000" dirty="0">
                <a:ea typeface="+mn-lt"/>
                <a:cs typeface="+mn-lt"/>
              </a:rPr>
              <a:t>: Dedicated app for route planning, ticketing, and updates.</a:t>
            </a:r>
            <a:endParaRPr lang="en-US" sz="2000">
              <a:ea typeface="Calibri"/>
              <a:cs typeface="Calibri"/>
            </a:endParaRPr>
          </a:p>
          <a:p>
            <a:endParaRPr lang="en-US" sz="2000" dirty="0">
              <a:ea typeface="+mn-lt"/>
              <a:cs typeface="+mn-lt"/>
            </a:endParaRPr>
          </a:p>
          <a:p>
            <a:pPr marL="285750" indent="-285750">
              <a:buFont typeface="Arial"/>
              <a:buChar char="•"/>
            </a:pPr>
            <a:r>
              <a:rPr lang="en-US" sz="2000" b="1" dirty="0">
                <a:ea typeface="+mn-lt"/>
                <a:cs typeface="+mn-lt"/>
              </a:rPr>
              <a:t>Predictive Scheduling</a:t>
            </a:r>
            <a:r>
              <a:rPr lang="en-US" sz="2000" dirty="0">
                <a:ea typeface="+mn-lt"/>
                <a:cs typeface="+mn-lt"/>
              </a:rPr>
              <a:t>: Use machine learning to optimize schedules based on passenger patterns.</a:t>
            </a:r>
            <a:endParaRPr lang="en-US" sz="2000">
              <a:ea typeface="Calibri"/>
              <a:cs typeface="Calibri"/>
            </a:endParaRPr>
          </a:p>
          <a:p>
            <a:endParaRPr lang="en-US" sz="2000" dirty="0">
              <a:ea typeface="+mn-lt"/>
              <a:cs typeface="+mn-lt"/>
            </a:endParaRPr>
          </a:p>
          <a:p>
            <a:pPr marL="285750" indent="-285750">
              <a:buFont typeface="Arial"/>
              <a:buChar char="•"/>
            </a:pPr>
            <a:r>
              <a:rPr lang="en-US" sz="2000" b="1" dirty="0">
                <a:ea typeface="+mn-lt"/>
                <a:cs typeface="+mn-lt"/>
              </a:rPr>
              <a:t>Transport System Integration</a:t>
            </a:r>
            <a:r>
              <a:rPr lang="en-US" sz="2000" dirty="0">
                <a:ea typeface="+mn-lt"/>
                <a:cs typeface="+mn-lt"/>
              </a:rPr>
              <a:t>: Combine metro data with buses and ride-sharing services for seamless commuting.</a:t>
            </a:r>
            <a:endParaRPr lang="en-US" sz="2000">
              <a:ea typeface="Calibri"/>
              <a:cs typeface="Calibri"/>
            </a:endParaRPr>
          </a:p>
          <a:p>
            <a:endParaRPr lang="en-US" sz="2000" dirty="0">
              <a:ea typeface="+mn-lt"/>
              <a:cs typeface="+mn-lt"/>
            </a:endParaRPr>
          </a:p>
          <a:p>
            <a:endParaRPr lang="en-US" dirty="0">
              <a:ea typeface="Calibri"/>
              <a:cs typeface="Calibri"/>
            </a:endParaRPr>
          </a:p>
        </p:txBody>
      </p:sp>
    </p:spTree>
    <p:extLst>
      <p:ext uri="{BB962C8B-B14F-4D97-AF65-F5344CB8AC3E}">
        <p14:creationId xmlns:p14="http://schemas.microsoft.com/office/powerpoint/2010/main" val="841334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85D155-BED2-ACEB-3769-8DCFF91CDB3A}"/>
              </a:ext>
            </a:extLst>
          </p:cNvPr>
          <p:cNvSpPr txBox="1"/>
          <p:nvPr/>
        </p:nvSpPr>
        <p:spPr>
          <a:xfrm>
            <a:off x="2046144" y="2474094"/>
            <a:ext cx="8872151" cy="120032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chemeClr val="accent1"/>
                </a:solidFill>
                <a:effectLst/>
                <a:uLnTx/>
                <a:uFillTx/>
                <a:latin typeface="Comic Sans MS"/>
                <a:cs typeface="Arial"/>
              </a:rPr>
              <a:t>Thank You!</a:t>
            </a:r>
            <a:endParaRPr lang="en-US" sz="7200" b="0" i="0" u="none" strike="noStrike" kern="1200" cap="none" spc="0" normalizeH="0" baseline="0" noProof="0">
              <a:ln>
                <a:noFill/>
              </a:ln>
              <a:solidFill>
                <a:schemeClr val="accent1"/>
              </a:solidFill>
              <a:effectLst/>
              <a:uLnTx/>
              <a:uFillTx/>
              <a:latin typeface="Comic Sans MS"/>
              <a:cs typeface="Arial"/>
            </a:endParaRPr>
          </a:p>
        </p:txBody>
      </p:sp>
    </p:spTree>
    <p:extLst>
      <p:ext uri="{BB962C8B-B14F-4D97-AF65-F5344CB8AC3E}">
        <p14:creationId xmlns:p14="http://schemas.microsoft.com/office/powerpoint/2010/main" val="1552965864"/>
      </p:ext>
    </p:extLst>
  </p:cSld>
  <p:clrMapOvr>
    <a:masterClrMapping/>
  </p:clrMapOvr>
</p:sld>
</file>

<file path=ppt/theme/theme1.xml><?xml version="1.0" encoding="utf-8"?>
<a:theme xmlns:a="http://schemas.openxmlformats.org/drawingml/2006/main" name="Office Theme">
  <a:themeElements>
    <a:clrScheme name="Custom 179">
      <a:dk1>
        <a:sysClr val="windowText" lastClr="000000"/>
      </a:dk1>
      <a:lt1>
        <a:sysClr val="window" lastClr="FFFFFF"/>
      </a:lt1>
      <a:dk2>
        <a:srgbClr val="44546A"/>
      </a:dk2>
      <a:lt2>
        <a:srgbClr val="E7E6E6"/>
      </a:lt2>
      <a:accent1>
        <a:srgbClr val="39B8D8"/>
      </a:accent1>
      <a:accent2>
        <a:srgbClr val="FEF0DA"/>
      </a:accent2>
      <a:accent3>
        <a:srgbClr val="1DA1F2"/>
      </a:accent3>
      <a:accent4>
        <a:srgbClr val="FF0000"/>
      </a:accent4>
      <a:accent5>
        <a:srgbClr val="5B9BD5"/>
      </a:accent5>
      <a:accent6>
        <a:srgbClr val="4DC2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SlideEgg</dc:creator>
  <cp:revision>350</cp:revision>
  <dcterms:created xsi:type="dcterms:W3CDTF">2023-03-19T16:59:16Z</dcterms:created>
  <dcterms:modified xsi:type="dcterms:W3CDTF">2024-10-22T05:23:32Z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2314374</vt:lpwstr>
  </property>
  <property fmtid="{D5CDD505-2E9C-101B-9397-08002B2CF9AE}" pid="3" name="NXPowerLiteSettings">
    <vt:lpwstr>E700052003A000</vt:lpwstr>
  </property>
  <property fmtid="{D5CDD505-2E9C-101B-9397-08002B2CF9AE}" pid="4" name="NXPowerLiteVersion">
    <vt:lpwstr>D9.1.7</vt:lpwstr>
  </property>
</Properties>
</file>